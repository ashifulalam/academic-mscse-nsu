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3"/>
  </p:notesMasterIdLst>
  <p:sldIdLst>
    <p:sldId id="256" r:id="rId2"/>
    <p:sldId id="299" r:id="rId3"/>
    <p:sldId id="300" r:id="rId4"/>
    <p:sldId id="276" r:id="rId5"/>
    <p:sldId id="303" r:id="rId6"/>
    <p:sldId id="280" r:id="rId7"/>
    <p:sldId id="304" r:id="rId8"/>
    <p:sldId id="305" r:id="rId9"/>
    <p:sldId id="306" r:id="rId10"/>
    <p:sldId id="287" r:id="rId11"/>
    <p:sldId id="288" r:id="rId12"/>
    <p:sldId id="289" r:id="rId13"/>
    <p:sldId id="290" r:id="rId14"/>
    <p:sldId id="291" r:id="rId15"/>
    <p:sldId id="301" r:id="rId16"/>
    <p:sldId id="309" r:id="rId17"/>
    <p:sldId id="310" r:id="rId18"/>
    <p:sldId id="311" r:id="rId19"/>
    <p:sldId id="312" r:id="rId20"/>
    <p:sldId id="307" r:id="rId21"/>
    <p:sldId id="308" r:id="rId22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660"/>
  </p:normalViewPr>
  <p:slideViewPr>
    <p:cSldViewPr>
      <p:cViewPr varScale="1">
        <p:scale>
          <a:sx n="107" d="100"/>
          <a:sy n="107" d="100"/>
        </p:scale>
        <p:origin x="1794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>
            <a:extLst>
              <a:ext uri="{FF2B5EF4-FFF2-40B4-BE49-F238E27FC236}">
                <a16:creationId xmlns:a16="http://schemas.microsoft.com/office/drawing/2014/main" id="{18684BCC-336F-23A3-0068-F98C8B7DD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1" name="AutoShape 2">
            <a:extLst>
              <a:ext uri="{FF2B5EF4-FFF2-40B4-BE49-F238E27FC236}">
                <a16:creationId xmlns:a16="http://schemas.microsoft.com/office/drawing/2014/main" id="{BBB4CEF9-103B-91F5-5E88-8C2ACEF30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2" name="AutoShape 3">
            <a:extLst>
              <a:ext uri="{FF2B5EF4-FFF2-40B4-BE49-F238E27FC236}">
                <a16:creationId xmlns:a16="http://schemas.microsoft.com/office/drawing/2014/main" id="{C442B386-BE97-35C2-D19D-931E61FC1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3" name="AutoShape 4">
            <a:extLst>
              <a:ext uri="{FF2B5EF4-FFF2-40B4-BE49-F238E27FC236}">
                <a16:creationId xmlns:a16="http://schemas.microsoft.com/office/drawing/2014/main" id="{9FA30772-978C-F677-D271-3BA48E0CC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31FA123-33B9-0292-F7BD-88D096F5C840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65450" cy="450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970CF3D-A048-1983-563D-51B206B8C324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6200" y="0"/>
            <a:ext cx="2965450" cy="450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6" name="Rectangle 7">
            <a:extLst>
              <a:ext uri="{FF2B5EF4-FFF2-40B4-BE49-F238E27FC236}">
                <a16:creationId xmlns:a16="http://schemas.microsoft.com/office/drawing/2014/main" id="{B5CC7891-C068-8284-1B7B-923ED2651EB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5650" cy="34226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541C7254-05C3-4D2F-11F9-CBB8E6EB356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2850" cy="4108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9017C083-480E-8CD1-65C3-4E7BFB433EA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8686800"/>
            <a:ext cx="2965450" cy="450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C4619365-8F31-41EB-7D4D-EC5B104E469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65450" cy="450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SzPct val="4500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cs typeface="DejaVu Sans" pitchFamily="34" charset="0"/>
              </a:defRPr>
            </a:lvl1pPr>
          </a:lstStyle>
          <a:p>
            <a:fld id="{7E698895-AB08-4B61-8BD5-8B8C5BF7440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">
            <a:extLst>
              <a:ext uri="{FF2B5EF4-FFF2-40B4-BE49-F238E27FC236}">
                <a16:creationId xmlns:a16="http://schemas.microsoft.com/office/drawing/2014/main" id="{19EBF47D-830E-0E91-21E8-73E94140F86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EBA9B3B4-A5E3-4BE2-A4FE-E8144C3AA9B0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1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4099" name="Rectangle 1">
            <a:extLst>
              <a:ext uri="{FF2B5EF4-FFF2-40B4-BE49-F238E27FC236}">
                <a16:creationId xmlns:a16="http://schemas.microsoft.com/office/drawing/2014/main" id="{F1A7FA4A-7392-7897-78A4-8F8C1320C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07B84CD3-699D-FF08-DD96-69ACD1F76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83A9B4F0-9CB8-1ACB-2647-633BA2B5C0A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AA6E8989-0F90-4B15-9C50-A81EB6F726BA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2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6FD23A23-4D0E-3456-40BD-B6E495911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AE1E170E-F2B0-D8C7-3AC1-3E8BE64EF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6CAC0977-784F-2C76-AB01-216C0ADAA82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03FB74C2-3163-47E0-ACDD-78D721CCAA5B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3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B8A846F7-9036-6778-4E56-1FE61ADEA6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5F250073-8330-A39E-1EF6-54E538145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C89B97C-931D-248B-6F95-E8E6FBC7A3B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4DDFB7A2-32A1-4DAB-BC25-9782245E7D39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4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10243" name="Rectangle 1">
            <a:extLst>
              <a:ext uri="{FF2B5EF4-FFF2-40B4-BE49-F238E27FC236}">
                <a16:creationId xmlns:a16="http://schemas.microsoft.com/office/drawing/2014/main" id="{5C1CFA7E-E0CE-AE1F-F8BA-314F28FE6B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DA4C7929-06EA-E68F-F20B-4ABAEB29F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7CF9813D-0A45-1E3D-4D28-305E73F8B99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09A15C13-2AB0-4DBE-8B30-AF89D1734955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5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12291" name="Rectangle 1">
            <a:extLst>
              <a:ext uri="{FF2B5EF4-FFF2-40B4-BE49-F238E27FC236}">
                <a16:creationId xmlns:a16="http://schemas.microsoft.com/office/drawing/2014/main" id="{18647053-7E67-F324-F7A9-FF3CD17F0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65D75DCF-CB6B-434F-6F25-D2AC126D5E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0CEA7694-89E9-EB8B-DF2E-812F2B75D99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A97A8EF0-393A-4C0B-BEFD-AE07391EFA84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6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14339" name="Rectangle 1">
            <a:extLst>
              <a:ext uri="{FF2B5EF4-FFF2-40B4-BE49-F238E27FC236}">
                <a16:creationId xmlns:a16="http://schemas.microsoft.com/office/drawing/2014/main" id="{DC18AF7C-E677-9E19-A342-A4CD6280AE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84B78AA0-D145-0AF9-6AD0-363493247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BE2E7A7-DB04-01BB-681A-B07BEA807F9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C76C0199-1A88-42C6-AFA9-57FF476E868A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11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22531" name="Rectangle 1">
            <a:extLst>
              <a:ext uri="{FF2B5EF4-FFF2-40B4-BE49-F238E27FC236}">
                <a16:creationId xmlns:a16="http://schemas.microsoft.com/office/drawing/2014/main" id="{D1352E1E-5B4D-99BE-FEA7-2E90E0D36D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B3B7D270-C1A9-767E-8F8F-14CCDEFEDB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F0DFB454-6204-D04A-82E2-AF79BACF4B0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BA14844C-FE5E-4357-865E-A719C85D8818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12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9DCCE89F-6318-604B-2BDA-D27F5B439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1C0B9A3B-822E-7F86-E86D-5931C9519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D4979F6-6E4A-E883-5EB1-335ED8B5187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42E7E51A-AA8E-409C-8384-A06C15B32DA7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13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C86D5D59-58C7-C1C5-C707-2CB088BBE6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05AF71B1-B157-E925-F3EB-099A261D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47F52903-519B-DACE-9139-1A2081BA718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719184B0-FAC8-4A13-8849-F58A335BA2EF}" type="slidenum">
              <a:rPr lang="en-US" altLang="en-US" sz="1200">
                <a:solidFill>
                  <a:srgbClr val="000000"/>
                </a:solidFill>
                <a:cs typeface="DejaVu Sans" pitchFamily="34" charset="0"/>
              </a:rPr>
              <a:pPr/>
              <a:t>14</a:t>
            </a:fld>
            <a:endParaRPr lang="en-US" altLang="en-US" sz="1200">
              <a:solidFill>
                <a:srgbClr val="000000"/>
              </a:solidFill>
              <a:cs typeface="DejaVu Sans" pitchFamily="34" charset="0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40FC9274-23AE-A8B0-43AA-B1A0F8D803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11F3AB0F-C051-FE99-3FBA-4E7DEBB648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84174692-DACA-4DF9-A873-8651DFEED79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4922F801-FBA8-495A-977C-F28EC9C0B9FE}" type="slidenum">
              <a:rPr lang="en-US" altLang="en-US" sz="1200">
                <a:solidFill>
                  <a:srgbClr val="000000"/>
                </a:solidFill>
                <a:cs typeface="DejaVu Sans" charset="0"/>
              </a:rPr>
              <a:pPr/>
              <a:t>15</a:t>
            </a:fld>
            <a:endParaRPr lang="en-US" altLang="en-US" sz="12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DB37B572-20A8-423C-894A-ED5E75619D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88FB73FC-5015-4C81-AD4E-89F9B81B2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3CCCD458-71DB-478A-A78B-11ABBCE7C2C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E0A9BB39-5608-4BE4-96CE-B11CD3DF31B3}" type="slidenum">
              <a:rPr lang="en-US" altLang="en-US" sz="1200">
                <a:solidFill>
                  <a:srgbClr val="000000"/>
                </a:solidFill>
                <a:cs typeface="DejaVu Sans" charset="0"/>
              </a:rPr>
              <a:pPr/>
              <a:t>16</a:t>
            </a:fld>
            <a:endParaRPr lang="en-US" altLang="en-US" sz="12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80109267-7893-4B33-98C2-687BCC9362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6A9A493B-2897-4415-A19A-592E77BED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90C3BD6E-E6CE-4BC6-BD52-042C96F1E42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B7F1DDD1-D722-4F3B-BC84-CD96316DB27A}" type="slidenum">
              <a:rPr lang="en-US" altLang="en-US" sz="1200">
                <a:solidFill>
                  <a:srgbClr val="000000"/>
                </a:solidFill>
                <a:cs typeface="DejaVu Sans" charset="0"/>
              </a:rPr>
              <a:pPr/>
              <a:t>17</a:t>
            </a:fld>
            <a:endParaRPr lang="en-US" altLang="en-US" sz="12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4D7B461E-DA39-4130-B13F-C166655850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A72AFEE1-9535-4261-B14C-63A6A1A63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0BA4A821-E199-4B3E-9741-ECE58174C8F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7AF6B460-C404-4996-B189-1A4960FBB1E2}" type="slidenum">
              <a:rPr lang="en-US" altLang="en-US" sz="1200">
                <a:solidFill>
                  <a:srgbClr val="000000"/>
                </a:solidFill>
                <a:cs typeface="DejaVu Sans" charset="0"/>
              </a:rPr>
              <a:pPr/>
              <a:t>18</a:t>
            </a:fld>
            <a:endParaRPr lang="en-US" altLang="en-US" sz="12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762AA86D-E28C-471D-816B-26A71F5E42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C974862A-E370-46A2-9751-87A2FEC5D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9FE655D3-F8D8-4B84-9DAE-B5AF6696C17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D243A441-C8D5-41AF-8CF7-D0EAB074FEEC}" type="slidenum">
              <a:rPr lang="en-US" altLang="en-US" sz="1200">
                <a:solidFill>
                  <a:srgbClr val="000000"/>
                </a:solidFill>
                <a:cs typeface="DejaVu Sans" charset="0"/>
              </a:rPr>
              <a:pPr/>
              <a:t>19</a:t>
            </a:fld>
            <a:endParaRPr lang="en-US" altLang="en-US" sz="12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5E1A1A5B-E03B-4345-9F58-8C5407182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CB690D98-FEFB-4176-BCA5-0FD1DA447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449D0CB1-5372-42FD-84D7-44C8DBF9C13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EEE8C326-7FB2-437D-9671-39E1362D32BD}" type="slidenum">
              <a:rPr lang="en-US" altLang="en-US" sz="1200">
                <a:solidFill>
                  <a:srgbClr val="000000"/>
                </a:solidFill>
                <a:cs typeface="DejaVu Sans" charset="0"/>
              </a:rPr>
              <a:pPr/>
              <a:t>20</a:t>
            </a:fld>
            <a:endParaRPr lang="en-US" altLang="en-US" sz="12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EBA0C8CE-6DA5-45AD-87D7-19A70DA3B1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2E44258F-C59C-4BFC-A761-D1C674E85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8DF100D-78E1-46D2-82B8-EA3F9D26027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fld id="{64143D56-1F9E-435F-88B1-8DF5297ACD6C}" type="slidenum">
              <a:rPr lang="en-US" altLang="en-US" sz="1200">
                <a:solidFill>
                  <a:srgbClr val="000000"/>
                </a:solidFill>
                <a:cs typeface="DejaVu Sans" charset="0"/>
              </a:rPr>
              <a:pPr/>
              <a:t>21</a:t>
            </a:fld>
            <a:endParaRPr lang="en-US" altLang="en-US" sz="12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B5BE65E1-C96E-427F-9222-50DB73ECD8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9FC88C44-A7D0-4C87-B260-C250693A5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F169287-103F-464C-A7DE-5B217E54F79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EDC19C2-87F6-092A-4A16-0C6E9EA0B698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F55B8-F420-4D91-84C8-38E4BDB059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50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3CB8E5C-B47C-EAE2-2823-D63EA241D95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5873865-A930-DA7D-F868-1E21EEE6711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AF1973-22A5-4DAE-8477-E121301425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858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12D632C-482C-CDBC-224E-4163AC06923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3AF6FB9-B787-A452-DA9A-E00EDEC577D0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510CD9-B63E-4B33-8765-5F2FE7C9CD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11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3943350" cy="4019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2950" y="1604963"/>
            <a:ext cx="3944938" cy="4019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9C1E520-A2EE-3C6B-6408-81C7380CB2E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85868FC-F305-C0E7-3A60-A15D2295331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6AEE64-EFE9-4F1A-BE89-1E9C3F8F19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83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BD3FE2-FFF2-A3C6-89D9-C306E447794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8CBA90D6-1F3B-9D6D-7510-BAF80884BAE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C9D531-AD92-40B6-A554-E1D792712F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029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E45D09E-C870-574E-3AB5-6462E66D7AE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91D4ABA-46A5-9D9A-ECD5-1105A88098C9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073674-30DB-456E-810D-80AB7F11F3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269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3B2A28D8-7877-30C1-0242-0F4FB2C31A1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B8B549D-E8A9-DC9E-888E-9A1070AC1BCE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C5200B-2451-47CF-B9FE-4A8B77A2DC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36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47566D5-7C74-ADB9-130D-EAF9DE2F592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9A718A7-1F16-CAB9-F17E-FB3B0BA4719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CE4EB-9E6A-41CD-91B5-304A698D06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92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95531FC-7C06-1185-B8C9-D4741CD00EF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021FBAC-F382-F669-BFB1-C13240407DFC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D31AA6-3D8E-4D91-9377-78B286AC6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46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6C5D58A-A718-62BB-3182-101F8D52716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C50F965-6F8B-2467-6557-88B8BBA0D1D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606560-935D-4531-B157-895169990E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224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8113" y="1219200"/>
            <a:ext cx="2009775" cy="4405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19200"/>
            <a:ext cx="5878513" cy="4405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36D4787-3A6B-15D5-C9EA-1322996635B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276DD64-5A4F-3855-5CC3-0639176AC68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6B27B8-F0E9-41E6-B04D-47E2EA592A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18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9200"/>
            <a:ext cx="7766050" cy="19272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96FB00E4-8D05-0F11-18E2-7BFF58B946E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2BBB6AD-71BF-6D4A-89D7-21D338247FDB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BDDEE4-EF3C-44DF-A068-C9843DA341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901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>
            <a:extLst>
              <a:ext uri="{FF2B5EF4-FFF2-40B4-BE49-F238E27FC236}">
                <a16:creationId xmlns:a16="http://schemas.microsoft.com/office/drawing/2014/main" id="{B7B78C2E-B7D6-7347-31F5-FACCF5C0D191}"/>
              </a:ext>
            </a:extLst>
          </p:cNvPr>
          <p:cNvGrpSpPr>
            <a:grpSpLocks/>
          </p:cNvGrpSpPr>
          <p:nvPr/>
        </p:nvGrpSpPr>
        <p:grpSpPr bwMode="auto">
          <a:xfrm>
            <a:off x="1658938" y="1600200"/>
            <a:ext cx="6831012" cy="3194050"/>
            <a:chOff x="1045" y="1008"/>
            <a:chExt cx="4303" cy="2012"/>
          </a:xfrm>
        </p:grpSpPr>
        <p:sp>
          <p:nvSpPr>
            <p:cNvPr id="1031" name="Oval 2">
              <a:extLst>
                <a:ext uri="{FF2B5EF4-FFF2-40B4-BE49-F238E27FC236}">
                  <a16:creationId xmlns:a16="http://schemas.microsoft.com/office/drawing/2014/main" id="{69C93F72-33F0-306E-573F-D3757E609CC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92" y="1008"/>
              <a:ext cx="956" cy="956"/>
            </a:xfrm>
            <a:prstGeom prst="ellipse">
              <a:avLst/>
            </a:prstGeom>
            <a:solidFill>
              <a:srgbClr val="D9D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032" name="Oval 3">
              <a:extLst>
                <a:ext uri="{FF2B5EF4-FFF2-40B4-BE49-F238E27FC236}">
                  <a16:creationId xmlns:a16="http://schemas.microsoft.com/office/drawing/2014/main" id="{2AAC5694-BDEA-3B7D-EA04-31AC9F9063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263" y="1008"/>
              <a:ext cx="956" cy="956"/>
            </a:xfrm>
            <a:prstGeom prst="ellipse">
              <a:avLst/>
            </a:prstGeom>
            <a:solidFill>
              <a:srgbClr val="D9D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033" name="Oval 4">
              <a:extLst>
                <a:ext uri="{FF2B5EF4-FFF2-40B4-BE49-F238E27FC236}">
                  <a16:creationId xmlns:a16="http://schemas.microsoft.com/office/drawing/2014/main" id="{A161A846-CBD1-2313-F681-A7A106FD9D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36" y="1008"/>
              <a:ext cx="956" cy="956"/>
            </a:xfrm>
            <a:prstGeom prst="ellipse">
              <a:avLst/>
            </a:prstGeom>
            <a:noFill/>
            <a:ln w="28440">
              <a:solidFill>
                <a:srgbClr val="D9D8E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034" name="Oval 5">
              <a:extLst>
                <a:ext uri="{FF2B5EF4-FFF2-40B4-BE49-F238E27FC236}">
                  <a16:creationId xmlns:a16="http://schemas.microsoft.com/office/drawing/2014/main" id="{D603789D-A44F-C6DC-CDC2-264287E02D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36" y="2064"/>
              <a:ext cx="956" cy="956"/>
            </a:xfrm>
            <a:prstGeom prst="ellipse">
              <a:avLst/>
            </a:prstGeom>
            <a:solidFill>
              <a:srgbClr val="D9D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035" name="Oval 6">
              <a:extLst>
                <a:ext uri="{FF2B5EF4-FFF2-40B4-BE49-F238E27FC236}">
                  <a16:creationId xmlns:a16="http://schemas.microsoft.com/office/drawing/2014/main" id="{0792AA90-28E8-C987-2316-04D2E7159C7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45" y="2064"/>
              <a:ext cx="956" cy="956"/>
            </a:xfrm>
            <a:prstGeom prst="ellipse">
              <a:avLst/>
            </a:prstGeom>
            <a:solidFill>
              <a:srgbClr val="D9D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C59AD5DB-E764-B677-D988-0C72DF934EC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92" y="2064"/>
              <a:ext cx="956" cy="956"/>
            </a:xfrm>
            <a:prstGeom prst="ellipse">
              <a:avLst/>
            </a:prstGeom>
            <a:noFill/>
            <a:ln w="28440">
              <a:solidFill>
                <a:srgbClr val="D9D8E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sp>
        <p:nvSpPr>
          <p:cNvPr id="2056" name="Rectangle 8">
            <a:extLst>
              <a:ext uri="{FF2B5EF4-FFF2-40B4-BE49-F238E27FC236}">
                <a16:creationId xmlns:a16="http://schemas.microsoft.com/office/drawing/2014/main" id="{C88D0918-F3E8-A4A7-805B-0907485B2B64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8400"/>
            <a:ext cx="2127250" cy="450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</a:tabLst>
              <a:defRPr sz="1000">
                <a:solidFill>
                  <a:srgbClr val="000000"/>
                </a:solidFill>
                <a:latin typeface="+mn-lt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r>
              <a:rPr lang="en-US"/>
              <a:t>01/03/16</a:t>
            </a:r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7ACF0619-2673-3772-F7CC-1BBFB4FAAD4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27250" cy="450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SzPct val="100000"/>
              <a:defRPr sz="1000">
                <a:solidFill>
                  <a:srgbClr val="000000"/>
                </a:solidFill>
                <a:latin typeface="Arial" panose="020B0604020202020204" pitchFamily="34" charset="0"/>
                <a:cs typeface="DejaVu Sans" pitchFamily="34" charset="0"/>
              </a:defRPr>
            </a:lvl1pPr>
          </a:lstStyle>
          <a:p>
            <a:fld id="{A4CE1E12-E7AD-4F19-B16B-D1225910F4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C2728612-0EB9-AC4C-ACEA-0F45D1727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219200"/>
            <a:ext cx="7766050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30" name="Rectangle 11">
            <a:extLst>
              <a:ext uri="{FF2B5EF4-FFF2-40B4-BE49-F238E27FC236}">
                <a16:creationId xmlns:a16="http://schemas.microsoft.com/office/drawing/2014/main" id="{18FDBB8B-4F74-0FD8-2766-245E16064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040688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800">
          <a:solidFill>
            <a:srgbClr val="00000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800">
          <a:solidFill>
            <a:srgbClr val="000000"/>
          </a:solidFill>
          <a:latin typeface="Arial" charset="0"/>
          <a:ea typeface="Droid Sans" charset="0"/>
          <a:cs typeface="Droid Sans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800">
          <a:solidFill>
            <a:srgbClr val="000000"/>
          </a:solidFill>
          <a:latin typeface="Arial" charset="0"/>
          <a:ea typeface="Droid Sans" charset="0"/>
          <a:cs typeface="Droid Sans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800">
          <a:solidFill>
            <a:srgbClr val="000000"/>
          </a:solidFill>
          <a:latin typeface="Arial" charset="0"/>
          <a:ea typeface="Droid Sans" charset="0"/>
          <a:cs typeface="Droid Sans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800">
          <a:solidFill>
            <a:srgbClr val="000000"/>
          </a:solidFill>
          <a:latin typeface="Arial" charset="0"/>
          <a:ea typeface="Droid Sans" charset="0"/>
          <a:cs typeface="Droid Sans" charset="0"/>
        </a:defRPr>
      </a:lvl5pPr>
      <a:lvl6pPr marL="25146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800">
          <a:solidFill>
            <a:srgbClr val="000000"/>
          </a:solidFill>
          <a:latin typeface="Arial" charset="0"/>
          <a:ea typeface="Droid Sans" charset="0"/>
          <a:cs typeface="Droid Sans" charset="0"/>
        </a:defRPr>
      </a:lvl6pPr>
      <a:lvl7pPr marL="29718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800">
          <a:solidFill>
            <a:srgbClr val="000000"/>
          </a:solidFill>
          <a:latin typeface="Arial" charset="0"/>
          <a:ea typeface="Droid Sans" charset="0"/>
          <a:cs typeface="Droid Sans" charset="0"/>
        </a:defRPr>
      </a:lvl7pPr>
      <a:lvl8pPr marL="34290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800">
          <a:solidFill>
            <a:srgbClr val="000000"/>
          </a:solidFill>
          <a:latin typeface="Arial" charset="0"/>
          <a:ea typeface="Droid Sans" charset="0"/>
          <a:cs typeface="Droid Sans" charset="0"/>
        </a:defRPr>
      </a:lvl8pPr>
      <a:lvl9pPr marL="38862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800">
          <a:solidFill>
            <a:srgbClr val="000000"/>
          </a:solidFill>
          <a:latin typeface="Arial" charset="0"/>
          <a:ea typeface="Droid Sans" charset="0"/>
          <a:cs typeface="Droid Sans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6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7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3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rahmanmahsanu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ahsanur.rahman@northsouth.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orms.gle/3vMZuUNXKGhp9R1b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3vMZuUNXKGhp9R1b9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3vMZuUNXKGhp9R1b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3vMZuUNXKGhp9R1b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09D9058D-1466-BA7E-FC5D-E8B57B085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721600" cy="914400"/>
          </a:xfrm>
        </p:spPr>
        <p:txBody>
          <a:bodyPr/>
          <a:lstStyle/>
          <a:p>
            <a:pPr algn="r"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400" b="1"/>
              <a:t> 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71CADE35-DAEC-C73A-0435-4EC9C869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2378075"/>
            <a:ext cx="7772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Droid Sans" charset="0"/>
              </a:defRPr>
            </a:lvl9pPr>
          </a:lstStyle>
          <a:p>
            <a:pPr algn="ctr" eaLnBrk="1" hangingPunct="1">
              <a:spcBef>
                <a:spcPts val="1100"/>
              </a:spcBef>
              <a:buSzPct val="80000"/>
            </a:pPr>
            <a:r>
              <a:rPr lang="en-US" altLang="en-US" sz="6000" b="1">
                <a:solidFill>
                  <a:srgbClr val="000000"/>
                </a:solidFill>
                <a:latin typeface="Arial" panose="020B0604020202020204" pitchFamily="34" charset="0"/>
              </a:rPr>
              <a:t>Introduction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D42C985C-B0AB-53CF-93C3-B6890D3A96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104775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/>
              <a:t>Who Am I?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B62221E-A9C1-BCC6-5801-E81F3DBFC3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153400" cy="4530725"/>
          </a:xfrm>
        </p:spPr>
        <p:txBody>
          <a:bodyPr/>
          <a:lstStyle/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Dr. Ahsanur Rahman</a:t>
            </a:r>
          </a:p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Associate Professor, ECE, NSU</a:t>
            </a:r>
          </a:p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B.Sc. in CSE from BUET</a:t>
            </a:r>
          </a:p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PhD in CS from Virginia Tech, USA</a:t>
            </a:r>
          </a:p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Website: </a:t>
            </a:r>
            <a:r>
              <a:rPr lang="en-US" altLang="en-US" sz="2800">
                <a:solidFill>
                  <a:srgbClr val="003054"/>
                </a:solidFill>
                <a:latin typeface="Verdana" panose="020B0604030504040204" pitchFamily="34" charset="0"/>
                <a:hlinkClick r:id="rId3"/>
              </a:rPr>
              <a:t>https://sites.google.com/site/rahmanmahsanur/</a:t>
            </a:r>
          </a:p>
          <a:p>
            <a:pPr marL="341313" indent="-341313" algn="just" eaLnBrk="1" hangingPunct="1">
              <a:spcBef>
                <a:spcPts val="700"/>
              </a:spcBef>
              <a:buClrTx/>
              <a:buSz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7BAF7CEF-058F-6CAE-55A2-9C3AB11C7E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0500" y="914400"/>
            <a:ext cx="8763000" cy="41148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800" dirty="0"/>
              <a:t>Your name, semester, BSc Inst., why this course?</a:t>
            </a:r>
            <a:br>
              <a:rPr lang="en-US" altLang="en-US" sz="4800" dirty="0"/>
            </a:br>
            <a:br>
              <a:rPr lang="en-US" altLang="en-US" sz="4800" dirty="0"/>
            </a:br>
            <a:r>
              <a:rPr lang="en-US" altLang="en-US" sz="4800" dirty="0"/>
              <a:t>Are you a full-time job-holder?</a:t>
            </a:r>
            <a:br>
              <a:rPr lang="en-US" altLang="en-US" sz="4800" dirty="0"/>
            </a:br>
            <a:br>
              <a:rPr lang="en-US" altLang="en-US" sz="4800" dirty="0"/>
            </a:br>
            <a:r>
              <a:rPr lang="en-US" altLang="en-US" sz="4800" dirty="0"/>
              <a:t>What do you expect from me?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5530856E-E435-D142-745C-C98FBFC78E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/>
              <a:t>How to  contact me?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1464310-18CC-3880-0BEF-272BED0A78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9220200" cy="4648200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b="1" dirty="0"/>
              <a:t>Best way</a:t>
            </a:r>
            <a:r>
              <a:rPr lang="en-US" dirty="0"/>
              <a:t>: meet me during my office hours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b="1" dirty="0"/>
              <a:t>Office:</a:t>
            </a:r>
            <a:r>
              <a:rPr lang="en-US" dirty="0"/>
              <a:t> SAC 914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/>
              <a:t>What to do if I am not there?</a:t>
            </a:r>
          </a:p>
          <a:p>
            <a:pPr marL="1141413" lvl="2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/>
              <a:t>Email me, so that I come ASAP if I am not busy in a meeting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/>
              <a:t>Where is my office hours?</a:t>
            </a:r>
          </a:p>
          <a:p>
            <a:pPr marL="1141413" lvl="2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/>
              <a:t>In front of my door and in Canvas</a:t>
            </a:r>
          </a:p>
          <a:p>
            <a:pPr marL="341313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b="1" dirty="0"/>
              <a:t>Email</a:t>
            </a:r>
            <a:r>
              <a:rPr lang="en-US" dirty="0"/>
              <a:t>: </a:t>
            </a:r>
            <a:r>
              <a:rPr lang="en-US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ahsanur.rahman@northsouth.edu</a:t>
            </a:r>
            <a:endParaRPr lang="en-US" dirty="0">
              <a:solidFill>
                <a:srgbClr val="00B0F0"/>
              </a:solidFill>
            </a:endParaRPr>
          </a:p>
          <a:p>
            <a:pPr marL="341313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b="1" dirty="0"/>
              <a:t>For common requests</a:t>
            </a:r>
            <a:r>
              <a:rPr lang="en-US" dirty="0"/>
              <a:t>: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/>
              <a:t>Don’t email me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/>
              <a:t>Fill up this G-Form: </a:t>
            </a:r>
            <a:r>
              <a:rPr lang="en-US" sz="24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https://forms.gle/3vMZuUNXKGhp9R1b9</a:t>
            </a:r>
            <a:r>
              <a:rPr lang="en-US" sz="2400" dirty="0">
                <a:solidFill>
                  <a:srgbClr val="00B0F0"/>
                </a:solidFill>
              </a:rPr>
              <a:t>  </a:t>
            </a:r>
            <a:endParaRPr lang="en-US" sz="3200" dirty="0">
              <a:solidFill>
                <a:srgbClr val="00B0F0"/>
              </a:solidFill>
            </a:endParaRPr>
          </a:p>
          <a:p>
            <a:pPr marL="341313" indent="-284163" eaLnBrk="1" hangingPunct="1">
              <a:buClr>
                <a:srgbClr val="CCCCFF"/>
              </a:buClr>
              <a:buSzPct val="70000"/>
              <a:buFont typeface="Wingdings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218EA3D8-0BD6-BB8F-3FEB-CB04034062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/>
              <a:t>Grading system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7970737-34A2-48FE-F4D3-273047E0F7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>
              <a:latin typeface="Verdana" panose="020B0604030504040204" pitchFamily="34" charset="0"/>
            </a:endParaRPr>
          </a:p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800">
              <a:latin typeface="Verdana" panose="020B0604030504040204" pitchFamily="34" charset="0"/>
            </a:endParaRPr>
          </a:p>
        </p:txBody>
      </p:sp>
      <p:pic>
        <p:nvPicPr>
          <p:cNvPr id="11268" name="Picture 3">
            <a:extLst>
              <a:ext uri="{FF2B5EF4-FFF2-40B4-BE49-F238E27FC236}">
                <a16:creationId xmlns:a16="http://schemas.microsoft.com/office/drawing/2014/main" id="{AF4EE71B-4951-9583-656F-0AC440B3D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466850"/>
            <a:ext cx="438467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>
            <a:extLst>
              <a:ext uri="{FF2B5EF4-FFF2-40B4-BE49-F238E27FC236}">
                <a16:creationId xmlns:a16="http://schemas.microsoft.com/office/drawing/2014/main" id="{3DBB0577-3193-C561-0214-FA130FE0CA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/>
              <a:t>Breakdown of Score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1FCB1DA-5166-E729-C41C-347BF788F96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752600"/>
            <a:ext cx="9144000" cy="4305300"/>
          </a:xfrm>
        </p:spPr>
        <p:txBody>
          <a:bodyPr/>
          <a:lstStyle/>
          <a:p>
            <a:pPr marL="341313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400" dirty="0">
                <a:latin typeface="Verdana" panose="020B0604030504040204" pitchFamily="34" charset="0"/>
              </a:rPr>
              <a:t>Class participation(CP) – 5%</a:t>
            </a:r>
          </a:p>
          <a:p>
            <a:pPr marL="341313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400" dirty="0">
                <a:latin typeface="Verdana" panose="020B0604030504040204" pitchFamily="34" charset="0"/>
              </a:rPr>
              <a:t>Project</a:t>
            </a:r>
          </a:p>
          <a:p>
            <a:pPr marL="741363" lvl="1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900" dirty="0">
                <a:latin typeface="Verdana" panose="020B0604030504040204" pitchFamily="34" charset="0"/>
              </a:rPr>
              <a:t>Proposal Presentation + viva + participation – 10%</a:t>
            </a:r>
          </a:p>
          <a:p>
            <a:pPr marL="741363" lvl="1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900" dirty="0">
                <a:latin typeface="Verdana" panose="020B0604030504040204" pitchFamily="34" charset="0"/>
              </a:rPr>
              <a:t>Initial paper – 10%</a:t>
            </a:r>
          </a:p>
          <a:p>
            <a:pPr marL="741363" lvl="1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900" dirty="0">
                <a:latin typeface="Verdana" panose="020B0604030504040204" pitchFamily="34" charset="0"/>
              </a:rPr>
              <a:t>Project contributions (progress reports, peer review) – 25%</a:t>
            </a:r>
          </a:p>
          <a:p>
            <a:pPr marL="1141413" lvl="2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500" dirty="0">
                <a:latin typeface="Verdana" panose="020B0604030504040204" pitchFamily="34" charset="0"/>
              </a:rPr>
              <a:t>Non-writing contributions</a:t>
            </a:r>
          </a:p>
          <a:p>
            <a:pPr marL="741363" lvl="1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900" dirty="0">
                <a:latin typeface="Verdana" panose="020B0604030504040204" pitchFamily="34" charset="0"/>
              </a:rPr>
              <a:t>Final presentation + viva – 15%</a:t>
            </a:r>
          </a:p>
          <a:p>
            <a:pPr marL="741363" lvl="1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1900" dirty="0">
                <a:latin typeface="Verdana" panose="020B0604030504040204" pitchFamily="34" charset="0"/>
              </a:rPr>
              <a:t>Final paper – 15%</a:t>
            </a:r>
          </a:p>
          <a:p>
            <a:pPr marL="341313" indent="-341313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400" dirty="0">
                <a:latin typeface="Verdana" panose="020B0604030504040204" pitchFamily="34" charset="0"/>
              </a:rPr>
              <a:t>Quizzes – 20%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CCCCFF"/>
              </a:buClr>
              <a:buSzPct val="80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altLang="en-US" sz="2400" dirty="0">
                <a:latin typeface="Verdana" panose="020B0604030504040204" pitchFamily="34" charset="0"/>
              </a:rPr>
              <a:t>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04B8B287-1DB1-716E-99E0-6EC586EF0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8451851" cy="1066800"/>
          </a:xfrm>
        </p:spPr>
        <p:txBody>
          <a:bodyPr anchor="t"/>
          <a:lstStyle/>
          <a:p>
            <a:pPr eaLnBrk="1" hangingPunct="1"/>
            <a:r>
              <a:rPr lang="en-US" altLang="en-US"/>
              <a:t>Ground rules for the exams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051B777-63EF-9145-654F-3D55FCF9D0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763000" cy="54864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Nobody is allowed to use any electronic device (phone/tab/…) except simple calculator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Calculator within mobile phone is not allowed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All electronic devices must be kept off and must be kept in the bag during exam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Turn off all your alarms in your devices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Put bags in front of the exam hall before exam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/>
              <a:t>Nobody can go outside the exam-room during the exam. Go beforehand.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Nobody is allowed to exchange anything with anybody else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665BC643-073F-2607-7E20-6FA0376757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762000"/>
            <a:ext cx="8228013" cy="50292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Before I come, </a:t>
            </a:r>
            <a:r>
              <a:rPr lang="en-US" altLang="en-US" dirty="0" err="1"/>
              <a:t>prepare+sit</a:t>
            </a:r>
            <a:r>
              <a:rPr lang="en-US" altLang="en-US" dirty="0"/>
              <a:t> in 4 columns which have equal distance between them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During exam, nobody can talk, move, try to look at others papers – no cheating!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Question &amp; answer scripts will be distributed to all and a few minutes will be given before the exam starts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Write ID, name etc. and read &amp; understand questions during this time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The invigilator will ask the students if they have any question/confusion about question, in which case he will explain it. Then the exam starts</a:t>
            </a:r>
            <a:br>
              <a:rPr lang="en-US" altLang="en-US" dirty="0"/>
            </a:b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8435" name="Title 1">
            <a:extLst>
              <a:ext uri="{FF2B5EF4-FFF2-40B4-BE49-F238E27FC236}">
                <a16:creationId xmlns:a16="http://schemas.microsoft.com/office/drawing/2014/main" id="{E60F5F1A-E176-F642-C3B0-A3FB33C63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8451851" cy="1066800"/>
          </a:xfrm>
        </p:spPr>
        <p:txBody>
          <a:bodyPr anchor="t"/>
          <a:lstStyle/>
          <a:p>
            <a:pPr eaLnBrk="1" hangingPunct="1"/>
            <a:r>
              <a:rPr lang="en-US" altLang="en-US"/>
              <a:t>Ground rules for the exams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E8DE7BF9-EA4C-DBE9-B96B-732A520ECC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7688" y="914400"/>
            <a:ext cx="8042275" cy="401955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Keep totally quiet during the exam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No question can be asked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No request can be made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Invigilators have the right to take away anybody's paper and keep it indefinitely as well as can deduct marks if the student adopts any unfair means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/>
              <a:t>When the invigilator tells the students to stop, everyone must stop writing, check if s/he put down his/her id, name, etc. and submit</a:t>
            </a:r>
          </a:p>
        </p:txBody>
      </p:sp>
      <p:sp>
        <p:nvSpPr>
          <p:cNvPr id="19459" name="Title 1">
            <a:extLst>
              <a:ext uri="{FF2B5EF4-FFF2-40B4-BE49-F238E27FC236}">
                <a16:creationId xmlns:a16="http://schemas.microsoft.com/office/drawing/2014/main" id="{D2B26F08-17E5-B33D-BFB3-E537ED64E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3338" y="0"/>
            <a:ext cx="8451851" cy="1066800"/>
          </a:xfrm>
        </p:spPr>
        <p:txBody>
          <a:bodyPr anchor="t"/>
          <a:lstStyle/>
          <a:p>
            <a:pPr eaLnBrk="1" hangingPunct="1"/>
            <a:r>
              <a:rPr lang="en-US" altLang="en-US"/>
              <a:t>Ground rules for the exams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5B8EF82-D999-3062-2AB9-ABAB99CCD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-1066800"/>
            <a:ext cx="7766050" cy="1927225"/>
          </a:xfrm>
        </p:spPr>
        <p:txBody>
          <a:bodyPr/>
          <a:lstStyle/>
          <a:p>
            <a:pPr eaLnBrk="1" hangingPunct="1"/>
            <a:r>
              <a:rPr lang="en-US" altLang="en-US" dirty="0"/>
              <a:t>Exam Paper Return Policy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27E9FB36-2520-1E0E-8E59-2217AEEDA6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5373" y="914400"/>
            <a:ext cx="8839200" cy="54864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I return almost all your exam papers (including quiz) in class so that you know your mistakes and your scores. Please write down your score and </a:t>
            </a:r>
            <a:r>
              <a:rPr lang="en-US" altLang="en-US" sz="2800" b="1" dirty="0"/>
              <a:t>return</a:t>
            </a:r>
            <a:r>
              <a:rPr lang="en-US" altLang="en-US" sz="2800" dirty="0"/>
              <a:t> the paper to me.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After mid, I send you an Excel sheet mentioning all your scores so far. I keep updating &amp; uploading it later on.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Please verify that your scores in Excel sheet are indeed correct by matching those with the scores you know from returned papers.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Don’t email me for score related issues, rather fill up this G-form and notify me after class: </a:t>
            </a:r>
            <a:r>
              <a:rPr lang="en-US" sz="2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https://forms.gle/3vMZuUNXKGhp9R1b9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>
            <a:extLst>
              <a:ext uri="{FF2B5EF4-FFF2-40B4-BE49-F238E27FC236}">
                <a16:creationId xmlns:a16="http://schemas.microsoft.com/office/drawing/2014/main" id="{2B922212-5728-DD34-B68B-091FCA4088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Class participation (CP)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8422ED2-B81E-A506-5CB4-ADC85E0140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90600"/>
            <a:ext cx="8686800" cy="5410200"/>
          </a:xfrm>
        </p:spPr>
        <p:txBody>
          <a:bodyPr/>
          <a:lstStyle/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latin typeface="Verdana" panose="020B0604030504040204" pitchFamily="34" charset="0"/>
              </a:rPr>
              <a:t>Based on the number of classes attended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latin typeface="Verdana" panose="020B0604030504040204" pitchFamily="34" charset="0"/>
              </a:rPr>
              <a:t>Do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latin typeface="Verdana" panose="020B0604030504040204" pitchFamily="34" charset="0"/>
              </a:rPr>
              <a:t>ask questions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latin typeface="Verdana" panose="020B0604030504040204" pitchFamily="34" charset="0"/>
              </a:rPr>
              <a:t>answer my questions</a:t>
            </a:r>
          </a:p>
          <a:p>
            <a:pPr marL="1141413" lvl="2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latin typeface="Verdana" panose="020B0604030504040204" pitchFamily="34" charset="0"/>
              </a:rPr>
              <a:t>Earn </a:t>
            </a:r>
            <a:r>
              <a:rPr lang="en-US" altLang="en-US" sz="2400" b="1" dirty="0">
                <a:latin typeface="Verdana" panose="020B0604030504040204" pitchFamily="34" charset="0"/>
              </a:rPr>
              <a:t>bonus</a:t>
            </a:r>
            <a:r>
              <a:rPr lang="en-US" altLang="en-US" sz="2400" dirty="0">
                <a:latin typeface="Verdana" panose="020B0604030504040204" pitchFamily="34" charset="0"/>
              </a:rPr>
              <a:t> by answering correctly &amp; quickly questions on this class-lecture</a:t>
            </a:r>
          </a:p>
          <a:p>
            <a:pPr marL="1598613" lvl="3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100" dirty="0">
                <a:latin typeface="Verdana" panose="020B0604030504040204" pitchFamily="34" charset="0"/>
              </a:rPr>
              <a:t>Bonus marks (0.1 ~ 1) depends on the question complexity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latin typeface="Verdana" panose="020B0604030504040204" pitchFamily="34" charset="0"/>
              </a:rPr>
              <a:t>Focus on what I am saying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latin typeface="Verdana" panose="020B0604030504040204" pitchFamily="34" charset="0"/>
              </a:rPr>
              <a:t>Take good preparation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dirty="0">
                <a:latin typeface="Verdana" panose="020B0604030504040204" pitchFamily="34" charset="0"/>
              </a:rPr>
              <a:t>If you are late &gt; 20 min, your card swipe won’t work; you can get at most 0.5 attendance (manually taken ON THAT DAY)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2F77CBAD-A1EF-198C-632B-E2B4752BD3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 dirty="0">
                <a:latin typeface="Verdana" panose="020B0604030504040204" pitchFamily="34" charset="0"/>
              </a:rPr>
              <a:t>Class participation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018F0D9-3E7C-1BB5-ECA5-895397CD9BE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438" y="775570"/>
            <a:ext cx="9144000" cy="5181600"/>
          </a:xfrm>
        </p:spPr>
        <p:txBody>
          <a:bodyPr/>
          <a:lstStyle/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 b="1" dirty="0">
                <a:latin typeface="Verdana" panose="020B0604030504040204" pitchFamily="34" charset="0"/>
              </a:rPr>
              <a:t>Don't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latin typeface="Verdana" panose="020B0604030504040204" pitchFamily="34" charset="0"/>
              </a:rPr>
              <a:t>be late in joining the class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latin typeface="Verdana" panose="020B0604030504040204" pitchFamily="34" charset="0"/>
              </a:rPr>
              <a:t>use gadgets or create nuisance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latin typeface="Verdana" panose="020B0604030504040204" pitchFamily="34" charset="0"/>
              </a:rPr>
              <a:t>Email me for attendance correction, Rather:</a:t>
            </a:r>
          </a:p>
          <a:p>
            <a:pPr marL="1141413" lvl="2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Meet me after class (e.g. when your card isn’t working) so that I can correct it right then OR</a:t>
            </a:r>
          </a:p>
          <a:p>
            <a:pPr marL="1141413" lvl="2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If you missed classes for sickness/other issues, fill up this form: </a:t>
            </a:r>
            <a:r>
              <a:rPr lang="en-US" sz="20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https://forms.gle/3vMZuUNXKGhp9R1b9</a:t>
            </a:r>
            <a:endParaRPr lang="en-US" sz="2000" dirty="0">
              <a:solidFill>
                <a:srgbClr val="00B0F0"/>
              </a:solidFill>
            </a:endParaRPr>
          </a:p>
          <a:p>
            <a:pPr marL="1598613" lvl="3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>
                <a:solidFill>
                  <a:schemeClr val="tx1"/>
                </a:solidFill>
                <a:latin typeface="Verdana" panose="020B0604030504040204" pitchFamily="34" charset="0"/>
              </a:rPr>
              <a:t>You must upload medical/legal/other documents as evidence to support your case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</a:rPr>
              <a:t>Miss classes without any valid reason</a:t>
            </a:r>
          </a:p>
          <a:p>
            <a:pPr marL="1141413" lvl="2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</a:rPr>
              <a:t>if you still missed any classes for some valid reasons,</a:t>
            </a:r>
          </a:p>
          <a:p>
            <a:pPr marL="1598613" lvl="3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700" dirty="0">
                <a:solidFill>
                  <a:schemeClr val="tx1"/>
                </a:solidFill>
                <a:latin typeface="Verdana" panose="020B0604030504040204" pitchFamily="34" charset="0"/>
              </a:rPr>
              <a:t>Collect class-notes from friends, review those along with slides</a:t>
            </a:r>
          </a:p>
          <a:p>
            <a:pPr marL="1598613" lvl="3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700" dirty="0">
                <a:solidFill>
                  <a:schemeClr val="tx1"/>
                </a:solidFill>
                <a:latin typeface="Verdana" panose="020B0604030504040204" pitchFamily="34" charset="0"/>
              </a:rPr>
              <a:t>consult with TA if you don’t understand something</a:t>
            </a:r>
          </a:p>
          <a:p>
            <a:pPr marL="1141413" lvl="2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</a:rPr>
              <a:t>If you still have problems, come to me with specific questions</a:t>
            </a:r>
          </a:p>
          <a:p>
            <a:pPr marL="1598613" lvl="3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700" dirty="0">
                <a:solidFill>
                  <a:schemeClr val="tx1"/>
                </a:solidFill>
                <a:latin typeface="Verdana" panose="020B0604030504040204" pitchFamily="34" charset="0"/>
              </a:rPr>
              <a:t>I can’t explain the whole class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>
            <a:extLst>
              <a:ext uri="{FF2B5EF4-FFF2-40B4-BE49-F238E27FC236}">
                <a16:creationId xmlns:a16="http://schemas.microsoft.com/office/drawing/2014/main" id="{BEECF7C6-0402-330A-4952-E6430BBEA3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Quizzes</a:t>
            </a: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5ECFFAAB-30B3-17AA-74F4-0AC4A5E414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00"/>
            <a:ext cx="8534400" cy="5072063"/>
          </a:xfrm>
        </p:spPr>
        <p:txBody>
          <a:bodyPr/>
          <a:lstStyle/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latin typeface="Verdana" pitchFamily="32" charset="0"/>
              </a:rPr>
              <a:t>2 quizzes, all will be counted</a:t>
            </a:r>
          </a:p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latin typeface="Verdana" pitchFamily="32" charset="0"/>
              </a:rPr>
              <a:t>Exact schedule will be announced later</a:t>
            </a:r>
          </a:p>
          <a:p>
            <a:pPr marL="341313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</a:rPr>
              <a:t>NO MAKE-UP QUIZZES/mid/final/HW unless there is a real issue (in which case, please contact me right after you come online)!!!</a:t>
            </a:r>
          </a:p>
          <a:p>
            <a:pPr marL="741363" lvl="1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</a:rPr>
              <a:t>You must provide evidence of your case by filling up 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G-Form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2" charset="0"/>
            </a:endParaRPr>
          </a:p>
          <a:p>
            <a:pPr marL="741363" lvl="1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3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</a:rPr>
              <a:t>In such a case, I shall decide how to resolve your case (taking makeup or something else)</a:t>
            </a:r>
          </a:p>
          <a:p>
            <a:pPr marL="741363" lvl="1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3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</a:rPr>
              <a:t>Please be totally frank with me; I shall do whatever I can to ease your situation</a:t>
            </a:r>
          </a:p>
          <a:p>
            <a:pPr marL="741363" lvl="1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3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2" charset="0"/>
              </a:rPr>
              <a:t>But please don’t come up with fake excuses to exploit/harass me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2" charset="0"/>
            </a:endParaRPr>
          </a:p>
          <a:p>
            <a:pPr marL="1141413" lvl="2" indent="-341313" algn="just" eaLnBrk="1" hangingPunct="1">
              <a:spcBef>
                <a:spcPts val="700"/>
              </a:spcBef>
              <a:buClr>
                <a:srgbClr val="CCCCFF"/>
              </a:buClr>
              <a:buSzPct val="80000"/>
              <a:buFont typeface="Wingdings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sz="19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2" charset="0"/>
            </a:endParaRP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sz="2800" dirty="0">
              <a:latin typeface="Verdana" pitchFamily="32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>
            <a:extLst>
              <a:ext uri="{FF2B5EF4-FFF2-40B4-BE49-F238E27FC236}">
                <a16:creationId xmlns:a16="http://schemas.microsoft.com/office/drawing/2014/main" id="{427607A7-0598-820A-B78F-320004568C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Quizzes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D9A03D1-D68D-6F4C-A082-2B3D21B658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Do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Take good preparation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Don't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copy/cheat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anose="05000000000000000000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800">
                <a:latin typeface="Verdana" panose="020B0604030504040204" pitchFamily="34" charset="0"/>
              </a:rPr>
              <a:t>delay in submitting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4EAD1552-A714-480F-84EE-188D138C19D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Evaluation process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6140D74-AEC0-4C9B-B233-684609960D2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90600"/>
            <a:ext cx="8686800" cy="5867400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Form group &amp; discuss project ideas with me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[By wk-2]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Proposal presentation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[By </a:t>
            </a:r>
            <a:r>
              <a:rPr lang="en-US" altLang="en-US" sz="2000" dirty="0" err="1">
                <a:solidFill>
                  <a:srgbClr val="FF0000"/>
                </a:solidFill>
                <a:latin typeface="Verdana" panose="020B0604030504040204" pitchFamily="34" charset="0"/>
              </a:rPr>
              <a:t>wk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 – 3]</a:t>
            </a:r>
            <a:endParaRPr lang="en-US" altLang="en-US" sz="18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Initial draft of paper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[By </a:t>
            </a:r>
            <a:r>
              <a:rPr lang="en-US" altLang="en-US" sz="2000" dirty="0" err="1">
                <a:solidFill>
                  <a:srgbClr val="FF0000"/>
                </a:solidFill>
                <a:latin typeface="Verdana" panose="020B0604030504040204" pitchFamily="34" charset="0"/>
              </a:rPr>
              <a:t>wk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 – 4]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Regular classes &amp; Quiz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[</a:t>
            </a:r>
            <a:r>
              <a:rPr lang="en-US" altLang="en-US" sz="2000" dirty="0" err="1">
                <a:solidFill>
                  <a:srgbClr val="FF0000"/>
                </a:solidFill>
                <a:latin typeface="Verdana" panose="020B0604030504040204" pitchFamily="34" charset="0"/>
              </a:rPr>
              <a:t>wk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 4,5,6, …]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Bi-weekly progress reports, viva, &amp; to-do lists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[weeks 4, 5, 6,…]</a:t>
            </a:r>
            <a:endParaRPr lang="en-US" altLang="en-US" sz="2000" dirty="0">
              <a:latin typeface="Verdana" panose="020B0604030504040204" pitchFamily="34" charset="0"/>
            </a:endParaRP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Final paper presentation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[weeks 11 - 12]</a:t>
            </a:r>
            <a:endParaRPr lang="en-US" altLang="en-US" sz="2000" dirty="0">
              <a:latin typeface="Verdana" panose="020B0604030504040204" pitchFamily="34" charset="0"/>
            </a:endParaRP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Final paper submission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[Final exam week]</a:t>
            </a:r>
            <a:endParaRPr lang="en-US" altLang="en-US" sz="2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61F29419-56E2-48DD-B7C6-0949FBD8EF4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Group Discussion/Meeting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AAAE717B-F525-450C-B741-657FC07199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Do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offer alternative proposals/solutions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Point out strength &amp; weaknesses in offered proposals/solutions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come forward to take responsibilities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raise questions/confusions if you have any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work on your assigned tasks before meeting and discuss the issues/challenges you face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Don’t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be absent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stay silent</a:t>
            </a:r>
          </a:p>
          <a:p>
            <a:pPr marL="741363" lvl="1" indent="-284163" eaLnBrk="1" hangingPunct="1">
              <a:buClr>
                <a:srgbClr val="CCCCFF"/>
              </a:buClr>
              <a:buSzPct val="70000"/>
              <a:buFont typeface="Wingdings" pitchFamily="2" charset="2"/>
              <a:buChar char="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dirty="0">
                <a:latin typeface="Verdana" pitchFamily="34" charset="0"/>
              </a:rPr>
              <a:t>cut off others while they are talking</a:t>
            </a:r>
          </a:p>
          <a:p>
            <a:pPr marL="341313" indent="-284163" eaLnBrk="1" hangingPunct="1">
              <a:buClr>
                <a:srgbClr val="CCCCFF"/>
              </a:buClr>
              <a:buSzPct val="70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US" sz="2900" dirty="0">
              <a:latin typeface="Verdana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0A90D1B6-EB7B-4E17-812E-99D3EDF6A7B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Individual Grading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0F3CE301-5163-45AB-A347-9003017C2B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90600"/>
            <a:ext cx="8686800" cy="5867400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Each team: 2~3 members, depending on project complexity</a:t>
            </a:r>
            <a:endParaRPr lang="en-US" altLang="en-US" sz="1900">
              <a:latin typeface="Verdana" panose="020B0604030504040204" pitchFamily="34" charset="0"/>
            </a:endParaRP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Each member must contribute significantly in presenting project, writing, and building project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latin typeface="Verdana" panose="020B0604030504040204" pitchFamily="34" charset="0"/>
              </a:rPr>
              <a:t>Each will get separate scores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solidFill>
                  <a:srgbClr val="FF0000"/>
                </a:solidFill>
                <a:latin typeface="Verdana" panose="020B0604030504040204" pitchFamily="34" charset="0"/>
              </a:rPr>
              <a:t>A member can fail even if the project is done superbly because s/he didn’t contribute enough 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Each member must participate in group discussions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Evaluation will be based on 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latin typeface="Verdana" panose="020B0604030504040204" pitchFamily="34" charset="0"/>
              </a:rPr>
              <a:t>Individual contribution in data analysis, coding, paper writing, …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latin typeface="Verdana" panose="020B0604030504040204" pitchFamily="34" charset="0"/>
              </a:rPr>
              <a:t>Participation of a member during weekly meetings, and during presentations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latin typeface="Verdana" panose="020B0604030504040204" pitchFamily="34" charset="0"/>
              </a:rPr>
              <a:t>Individual viva during weekly meetings and at the end of semester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2A776789-DB51-43BF-8E5F-A61E034953F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7724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Project Proposal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C35EE407-B063-4DA5-8456-39EB6BB7007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4300" y="788096"/>
            <a:ext cx="8915400" cy="5410200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Discuss with me your ideas by the end of 2nd week to get my feedback (you must get my approval first)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dirty="0">
                <a:latin typeface="Verdana" panose="020B0604030504040204" pitchFamily="34" charset="0"/>
              </a:rPr>
              <a:t>Selected problem must be a problem on designing/benchmarking complex/advanced data structures &amp; its operations/algorithms &amp; its applications</a:t>
            </a:r>
          </a:p>
          <a:p>
            <a:pPr marL="1141413" lvl="2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400" dirty="0">
                <a:latin typeface="Verdana" panose="020B0604030504040204" pitchFamily="34" charset="0"/>
              </a:rPr>
              <a:t>Specially, data structures for maintaining graphs (static/dynamic) and for range queries</a:t>
            </a:r>
            <a:endParaRPr lang="en-AU" altLang="en-US" sz="1400" dirty="0"/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AU" altLang="en-US" sz="1800" dirty="0">
                <a:latin typeface="Verdana" panose="020B0604030504040204" pitchFamily="34" charset="0"/>
              </a:rPr>
              <a:t>Research about the </a:t>
            </a:r>
            <a:r>
              <a:rPr lang="en-AU" altLang="en-US" sz="1800" dirty="0" err="1">
                <a:latin typeface="Verdana" panose="020B0604030504040204" pitchFamily="34" charset="0"/>
              </a:rPr>
              <a:t>feasibility+usefulness</a:t>
            </a:r>
            <a:r>
              <a:rPr lang="en-AU" altLang="en-US" sz="1800" dirty="0">
                <a:latin typeface="Verdana" panose="020B0604030504040204" pitchFamily="34" charset="0"/>
              </a:rPr>
              <a:t> of the problem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AU" altLang="en-US" sz="2000" dirty="0">
                <a:latin typeface="Verdana" panose="020B0604030504040204" pitchFamily="34" charset="0"/>
              </a:rPr>
              <a:t>Present the project proposal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AU" altLang="en-US" sz="2000" dirty="0">
                <a:latin typeface="Verdana" panose="020B0604030504040204" pitchFamily="34" charset="0"/>
              </a:rPr>
              <a:t>Each group will be given at most 10 min to present &amp; max 5 min for Q&amp;A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latin typeface="Verdana" panose="020B0604030504040204" pitchFamily="34" charset="0"/>
              </a:rPr>
              <a:t>basic concepts relevant to this problem, MOTIVATION: why this problem is important to solve (practical/theoretical benefits) + show that this problem has not been solved before OR can be solved using/adapting existing approaches but that will be inefficient/non-exact, Related Work (details) to show your claims are true, Intuition/high-level ideas to solve your problem and existing solutions, </a:t>
            </a:r>
            <a:r>
              <a:rPr lang="en-AU" altLang="en-US" sz="2000" dirty="0">
                <a:latin typeface="Verdana" panose="020B0604030504040204" pitchFamily="34" charset="0"/>
              </a:rPr>
              <a:t>week-by-week plan to complete the project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AU" altLang="en-US" sz="2000" dirty="0">
              <a:latin typeface="Verdana" panose="020B0604030504040204" pitchFamily="34" charset="0"/>
            </a:endParaRP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C8A1BF6E-B517-4953-9658-FBAB59E58A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9144000" cy="10668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Initial paper draft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D075B79-9E98-457F-8D3F-EB38A1C488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90600"/>
            <a:ext cx="8686800" cy="5867400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Each member must contribute significantly in writing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All the sections must be completed diligently.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solidFill>
                  <a:srgbClr val="FF0000"/>
                </a:solidFill>
                <a:latin typeface="Verdana" panose="020B0604030504040204" pitchFamily="34" charset="0"/>
              </a:rPr>
              <a:t>Copy from internet/friend/anywhere … will be punished via negative marks.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solidFill>
                  <a:srgbClr val="FF0000"/>
                </a:solidFill>
                <a:latin typeface="Verdana" panose="020B0604030504040204" pitchFamily="34" charset="0"/>
              </a:rPr>
              <a:t>Partial copy is still copy…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AU" altLang="en-US" sz="2400">
                <a:latin typeface="Verdana" panose="020B0604030504040204" pitchFamily="34" charset="0"/>
              </a:rPr>
              <a:t>write basic concepts, motivation (introduction), Related Work, problem statement, possible/existing solution techniques and week-by-week plan to complete the project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Evaluation will be based on 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latin typeface="Verdana" panose="020B0604030504040204" pitchFamily="34" charset="0"/>
              </a:rPr>
              <a:t>Writing style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latin typeface="Verdana" panose="020B0604030504040204" pitchFamily="34" charset="0"/>
              </a:rPr>
              <a:t>Completeness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latin typeface="Verdana" panose="020B0604030504040204" pitchFamily="34" charset="0"/>
              </a:rPr>
              <a:t>Individual contributions (measured via viva)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>
                <a:latin typeface="Verdana" panose="020B0604030504040204" pitchFamily="34" charset="0"/>
              </a:rPr>
              <a:t>Correct sentence structure and grammar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>
            <a:extLst>
              <a:ext uri="{FF2B5EF4-FFF2-40B4-BE49-F238E27FC236}">
                <a16:creationId xmlns:a16="http://schemas.microsoft.com/office/drawing/2014/main" id="{9A4A6EAD-34D6-465D-A9D3-574E4EDC95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9144000" cy="10668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57175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>
                <a:latin typeface="Verdana" panose="020B0604030504040204" pitchFamily="34" charset="0"/>
              </a:rPr>
              <a:t>Presentations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5B799A4-A94D-40D9-84D9-6156A8EFF8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41325" y="1295400"/>
            <a:ext cx="8686800" cy="5867400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Each member must present some slides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solidFill>
                  <a:srgbClr val="FF0000"/>
                </a:solidFill>
                <a:latin typeface="Verdana" panose="020B0604030504040204" pitchFamily="34" charset="0"/>
              </a:rPr>
              <a:t>Prepare yourself for the presentation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Be formal in dressing; but don’t be extravagant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>
                <a:latin typeface="Verdana" panose="020B0604030504040204" pitchFamily="34" charset="0"/>
              </a:rPr>
              <a:t>Give feedback on others’ demo &amp; presentations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4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0A627581-E54B-4955-932F-368E7EE8D4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9144000" cy="10668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57175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000" b="1" dirty="0">
                <a:latin typeface="Verdana" panose="020B0604030504040204" pitchFamily="34" charset="0"/>
              </a:rPr>
              <a:t>Bi-weekly Progress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7DFAF67-05B1-4569-9CB0-EBEE838BFAD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41325" y="1447800"/>
            <a:ext cx="8321675" cy="4572000"/>
          </a:xfrm>
        </p:spPr>
        <p:txBody>
          <a:bodyPr/>
          <a:lstStyle/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latin typeface="Verdana" panose="020B0604030504040204" pitchFamily="34" charset="0"/>
              </a:rPr>
              <a:t>Each member must submit individual biweekly report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latin typeface="Verdana" panose="020B0604030504040204" pitchFamily="34" charset="0"/>
              </a:rPr>
              <a:t>Mention the followings in each report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 dirty="0">
                <a:latin typeface="Verdana" panose="020B0604030504040204" pitchFamily="34" charset="0"/>
              </a:rPr>
              <a:t>Goals of </a:t>
            </a:r>
            <a:r>
              <a:rPr lang="en-US" altLang="en-US" sz="1900">
                <a:latin typeface="Verdana" panose="020B0604030504040204" pitchFamily="34" charset="0"/>
              </a:rPr>
              <a:t>the bi-week</a:t>
            </a:r>
            <a:endParaRPr lang="en-US" altLang="en-US" sz="1900" dirty="0">
              <a:latin typeface="Verdana" panose="020B0604030504040204" pitchFamily="34" charset="0"/>
            </a:endParaRP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 dirty="0">
                <a:latin typeface="Verdana" panose="020B0604030504040204" pitchFamily="34" charset="0"/>
              </a:rPr>
              <a:t>Done</a:t>
            </a:r>
          </a:p>
          <a:p>
            <a:pPr marL="741363" lvl="1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900" dirty="0">
                <a:latin typeface="Verdana" panose="020B0604030504040204" pitchFamily="34" charset="0"/>
              </a:rPr>
              <a:t>Doing/Working (partially done but wasn’t complete due to error/bug etc.)</a:t>
            </a:r>
          </a:p>
          <a:p>
            <a:pPr marL="341313" indent="-341313" eaLnBrk="1" hangingPunct="1">
              <a:buClr>
                <a:srgbClr val="CCCCFF"/>
              </a:buClr>
              <a:buSzPct val="80000"/>
              <a:buFont typeface="Wingdings" panose="05000000000000000000" pitchFamily="2" charset="2"/>
              <a:buChar char="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latin typeface="Verdana" panose="020B0604030504040204" pitchFamily="34" charset="0"/>
              </a:rPr>
              <a:t>Maintain Google Docs where you write down my feedback and your to-do list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Droid Sans"/>
        <a:cs typeface="Droid Sans"/>
      </a:majorFont>
      <a:minorFont>
        <a:latin typeface="Arial"/>
        <a:ea typeface="Droid Sans"/>
        <a:cs typeface="Droid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1513</Words>
  <Application>Microsoft Office PowerPoint</Application>
  <PresentationFormat>On-screen Show (4:3)</PresentationFormat>
  <Paragraphs>172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Times New Roman</vt:lpstr>
      <vt:lpstr>Verdana</vt:lpstr>
      <vt:lpstr>Wingdings</vt:lpstr>
      <vt:lpstr>Office Theme</vt:lpstr>
      <vt:lpstr> </vt:lpstr>
      <vt:lpstr>Who Am I?</vt:lpstr>
      <vt:lpstr>Your name, semester, BSc Inst., why this course?  Are you a full-time job-holder?  What do you expect from me?</vt:lpstr>
      <vt:lpstr>How to  contact me?</vt:lpstr>
      <vt:lpstr>Grading system</vt:lpstr>
      <vt:lpstr>Breakdown of Score</vt:lpstr>
      <vt:lpstr>Ground rules for the exams</vt:lpstr>
      <vt:lpstr>Ground rules for the exams</vt:lpstr>
      <vt:lpstr>Ground rules for the exams</vt:lpstr>
      <vt:lpstr>Exam Paper Return Policy</vt:lpstr>
      <vt:lpstr>Class participation (CP)</vt:lpstr>
      <vt:lpstr>Class participation</vt:lpstr>
      <vt:lpstr>Quizzes</vt:lpstr>
      <vt:lpstr>Quizzes</vt:lpstr>
      <vt:lpstr>Evaluation process</vt:lpstr>
      <vt:lpstr>Group Discussion/Meeting</vt:lpstr>
      <vt:lpstr>Individual Grading</vt:lpstr>
      <vt:lpstr>Project Proposal</vt:lpstr>
      <vt:lpstr>Initial paper draft</vt:lpstr>
      <vt:lpstr>Presentations</vt:lpstr>
      <vt:lpstr>Bi-weekly Progress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- 11</dc:title>
  <dc:creator>Md.Feroz Akter Hossain</dc:creator>
  <cp:lastModifiedBy>CLASSROOM</cp:lastModifiedBy>
  <cp:revision>164</cp:revision>
  <cp:lastPrinted>1601-01-01T00:00:00Z</cp:lastPrinted>
  <dcterms:created xsi:type="dcterms:W3CDTF">2005-07-23T13:44:14Z</dcterms:created>
  <dcterms:modified xsi:type="dcterms:W3CDTF">2026-06-12T04:46:43Z</dcterms:modified>
</cp:coreProperties>
</file>